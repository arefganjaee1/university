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94"/>
  </p:normalViewPr>
  <p:slideViewPr>
    <p:cSldViewPr snapToGrid="0">
      <p:cViewPr varScale="1">
        <p:scale>
          <a:sx n="121" d="100"/>
          <a:sy n="121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4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6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2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6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1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5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0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51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17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07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7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76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72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4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E16C3AC-B759-4848-97E9-10EFF2DD5F2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006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EF5A-9CAE-7DE0-88E4-A941A6F44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به نام خدا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3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2F30-D431-A5AB-24F8-7A8996643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672662"/>
            <a:ext cx="9905998" cy="5602013"/>
          </a:xfrm>
        </p:spPr>
        <p:txBody>
          <a:bodyPr>
            <a:normAutofit fontScale="77500" lnSpcReduction="20000"/>
          </a:bodyPr>
          <a:lstStyle/>
          <a:p>
            <a:pPr algn="just" rtl="1">
              <a:lnSpc>
                <a:spcPct val="300000"/>
              </a:lnSpc>
            </a:pPr>
            <a:r>
              <a:rPr lang="fa-IR" dirty="0"/>
              <a:t>خلاصه فصل ۶</a:t>
            </a:r>
            <a:endParaRPr lang="en-US" dirty="0"/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نام درس: اندیشه های </a:t>
            </a:r>
            <a:r>
              <a:rPr lang="fa-IR" dirty="0" err="1"/>
              <a:t>امامین</a:t>
            </a:r>
            <a:r>
              <a:rPr lang="fa-IR" dirty="0"/>
              <a:t> انقلاب اسلامی و </a:t>
            </a:r>
            <a:r>
              <a:rPr lang="fa-IR" dirty="0" err="1"/>
              <a:t>وصایای</a:t>
            </a:r>
            <a:r>
              <a:rPr lang="fa-IR" dirty="0"/>
              <a:t> حضرت امام خمینی(ره)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ارائه دهنده: </a:t>
            </a:r>
            <a:r>
              <a:rPr lang="fa-IR" dirty="0" err="1"/>
              <a:t>مهیار</a:t>
            </a:r>
            <a:r>
              <a:rPr lang="fa-IR"/>
              <a:t> زلف </a:t>
            </a:r>
            <a:r>
              <a:rPr lang="fa-IR" dirty="0"/>
              <a:t>خانی و عارف گنجائی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دانشگاه آزاد تهران، واحد غرب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دانشکده فنی و مهندسی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نام استاد: آقای وحید </a:t>
            </a:r>
            <a:r>
              <a:rPr lang="fa-IR" dirty="0" err="1"/>
              <a:t>مددخانی</a:t>
            </a:r>
            <a:endParaRPr lang="fa-IR" dirty="0"/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۱۴۰۴ - ۱۴۰۵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4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69DB-B09F-5FDA-EC3B-162E98F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45324"/>
          </a:xfrm>
        </p:spPr>
        <p:txBody>
          <a:bodyPr/>
          <a:lstStyle/>
          <a:p>
            <a:pPr algn="ctr" rtl="1"/>
            <a:r>
              <a:rPr lang="fa-IR" b="1" dirty="0">
                <a:effectLst/>
              </a:rPr>
              <a:t>اهداف فصل ششم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C3084-D215-E0EE-EDCB-488DE803D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2677"/>
            <a:ext cx="10136187" cy="4088524"/>
          </a:xfrm>
        </p:spPr>
        <p:txBody>
          <a:bodyPr/>
          <a:lstStyle/>
          <a:p>
            <a:pPr marL="457200" indent="-457200" algn="r" rtl="1">
              <a:buFont typeface="+mj-lt"/>
              <a:buAutoNum type="arabicPeriod"/>
            </a:pPr>
            <a:r>
              <a:rPr lang="fa-IR" b="1" dirty="0">
                <a:effectLst/>
              </a:rPr>
              <a:t>آشنایی  با زندگی آیت الله خامنه ای</a:t>
            </a:r>
            <a:endParaRPr lang="en-US" dirty="0">
              <a:effectLst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fa-IR" b="1" dirty="0">
                <a:effectLst/>
              </a:rPr>
              <a:t>آشنایی  با ویژگی های امام خمینی(ره) از منظر مقام معظم رهبری</a:t>
            </a:r>
            <a:endParaRPr lang="en-US" dirty="0">
              <a:effectLst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fa-IR" b="1" dirty="0">
                <a:effectLst/>
              </a:rPr>
              <a:t>آشنایی  با نظریه ولایت فقیه و مردم سالاری دینی در اندیشه امام خمینی(ره) و مقام معظم رهبری</a:t>
            </a:r>
          </a:p>
          <a:p>
            <a:pPr marL="457200" indent="-457200" algn="r" rtl="1">
              <a:buFont typeface="+mj-lt"/>
              <a:buAutoNum type="arabicPeriod"/>
            </a:pPr>
            <a:endParaRPr lang="fa-IR" b="1" dirty="0">
              <a:effectLst/>
            </a:endParaRPr>
          </a:p>
          <a:p>
            <a:pPr marL="0" indent="0" algn="r" rtl="1">
              <a:buNone/>
            </a:pPr>
            <a:r>
              <a:rPr lang="fa-IR" dirty="0">
                <a:effectLst/>
              </a:rPr>
              <a:t>آیت الله خامنه ای در 14 خرداد 1368 از سوی مجلس </a:t>
            </a:r>
            <a:r>
              <a:rPr lang="fa-IR" dirty="0" err="1">
                <a:effectLst/>
              </a:rPr>
              <a:t>خبرگان</a:t>
            </a:r>
            <a:r>
              <a:rPr lang="fa-IR" dirty="0">
                <a:effectLst/>
              </a:rPr>
              <a:t> رهبری به عنوان </a:t>
            </a:r>
            <a:r>
              <a:rPr lang="fa-IR" dirty="0" err="1">
                <a:effectLst/>
              </a:rPr>
              <a:t>جاشین</a:t>
            </a:r>
            <a:r>
              <a:rPr lang="fa-IR" dirty="0">
                <a:effectLst/>
              </a:rPr>
              <a:t> امام تعیین شدند.</a:t>
            </a:r>
          </a:p>
          <a:p>
            <a:pPr marL="0" indent="0" algn="r" rtl="1">
              <a:buNone/>
            </a:pPr>
            <a:r>
              <a:rPr lang="fa-IR" dirty="0">
                <a:effectLst/>
              </a:rPr>
              <a:t>با بررسی دیدگاه های این دو رهبر </a:t>
            </a:r>
            <a:r>
              <a:rPr lang="fa-IR" dirty="0" err="1">
                <a:effectLst/>
              </a:rPr>
              <a:t>درمیابیم</a:t>
            </a:r>
            <a:r>
              <a:rPr lang="fa-IR" dirty="0">
                <a:effectLst/>
              </a:rPr>
              <a:t> که دیدگاه های این دو در یک گفتمان قرار می گیرد و شباهت های بسیاری باهم دارند</a:t>
            </a:r>
          </a:p>
          <a:p>
            <a:pPr marL="0" indent="0" algn="r" rtl="1">
              <a:buNone/>
            </a:pPr>
            <a:r>
              <a:rPr lang="fa-IR" dirty="0">
                <a:effectLst/>
              </a:rPr>
              <a:t>این شباهت </a:t>
            </a:r>
            <a:r>
              <a:rPr lang="fa-IR" dirty="0" err="1">
                <a:effectLst/>
              </a:rPr>
              <a:t>هارا</a:t>
            </a:r>
            <a:r>
              <a:rPr lang="fa-IR" dirty="0">
                <a:effectLst/>
              </a:rPr>
              <a:t> می توان در دو بعد عملی و علمی دسته بندی کرد.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310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5DBE-1722-8167-F07C-2809510C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>
                <a:effectLst/>
              </a:rPr>
              <a:t>شباهت جهت عملی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2803-3651-05B4-FB4F-BB4B0A78A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هر دو شخصیت از جایگاه رهبری دینی و سیاسی ممتازی برخوردارند و هر دو اهل مبارزه و فعالیت سیاسی </a:t>
            </a:r>
            <a:r>
              <a:rPr lang="fa-IR" dirty="0" err="1"/>
              <a:t>اند</a:t>
            </a:r>
            <a:endParaRPr lang="fa-IR" dirty="0"/>
          </a:p>
          <a:p>
            <a: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هر دو زندگی بسیار ساده و زاهدانه ای دارند و از پشتوانه مردمی بسیار بالایی در جامعه برخوردارند.</a:t>
            </a:r>
          </a:p>
          <a:p>
            <a: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E624-83E5-5F50-88DD-CAC61DD0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BF6F-9228-80C8-ED17-113DD20C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>
                <a:effectLst/>
              </a:rPr>
              <a:t>شباهت جهت علمی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291F-EB3A-F168-8D9F-1A112FDF5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15" y="2036378"/>
            <a:ext cx="10651194" cy="3124201"/>
          </a:xfrm>
        </p:spPr>
        <p:txBody>
          <a:bodyPr/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هر دو شخصیت از جامعیت علمی بالایی در فقه، اصول، فلسفه، عرفان، سیاست و مسائل روز برخوردارند و هر دو رویکرد های مشابه دارند و می توان هر دو را پیرو حکمت </a:t>
            </a:r>
            <a:r>
              <a:rPr lang="fa-IR" dirty="0" err="1"/>
              <a:t>متعالیه</a:t>
            </a:r>
            <a:r>
              <a:rPr lang="fa-IR" dirty="0"/>
              <a:t> </a:t>
            </a:r>
            <a:r>
              <a:rPr lang="fa-IR" dirty="0" err="1"/>
              <a:t>صدرایی</a:t>
            </a:r>
            <a:r>
              <a:rPr lang="fa-IR" dirty="0"/>
              <a:t> دانست.</a:t>
            </a:r>
          </a:p>
        </p:txBody>
      </p:sp>
    </p:spTree>
    <p:extLst>
      <p:ext uri="{BB962C8B-B14F-4D97-AF65-F5344CB8AC3E}">
        <p14:creationId xmlns:p14="http://schemas.microsoft.com/office/powerpoint/2010/main" val="5308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5D89-D282-F90B-C40A-F8707EF2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513490"/>
          </a:xfrm>
        </p:spPr>
        <p:txBody>
          <a:bodyPr/>
          <a:lstStyle/>
          <a:p>
            <a:pPr algn="ctr" rtl="1"/>
            <a:r>
              <a:rPr lang="fa-IR" b="1" dirty="0">
                <a:effectLst/>
              </a:rPr>
              <a:t>نگاهی گذرا به زندگینامه آیت الله خامنه ای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7C12-86F3-1464-5F3C-3729BFFD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123090"/>
            <a:ext cx="9905998" cy="4062247"/>
          </a:xfrm>
        </p:spPr>
        <p:txBody>
          <a:bodyPr>
            <a:normAutofit fontScale="92500" lnSpcReduction="10000"/>
          </a:bodyPr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1-	تحصیل و تدریس: 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endParaRPr lang="fa-IR" dirty="0"/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2-	پژوهش و تالیف: چهار کتاب اصلی علم رجال، طرح کلی اندیشه اسلامی در قرآن، پیشوای صادق، از ژرفای نماز، صبر، روح توحید نفی عبودیت غیر خدا، گزارشی از سابقه تاریخی و اوضاع کنونی حوزه علمیه قم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endParaRPr lang="fa-IR" dirty="0"/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3-	ترجمه ها: آینده در قلمرو اسلام، صلح امام حسن، تفسیر فی </a:t>
            </a:r>
            <a:r>
              <a:rPr lang="fa-IR" dirty="0" err="1"/>
              <a:t>ظلال</a:t>
            </a:r>
            <a:r>
              <a:rPr lang="fa-IR" dirty="0"/>
              <a:t> </a:t>
            </a:r>
            <a:r>
              <a:rPr lang="fa-IR" dirty="0" err="1"/>
              <a:t>القرآن</a:t>
            </a:r>
            <a:r>
              <a:rPr lang="fa-IR" dirty="0"/>
              <a:t>، مسلمانان در نهضت آزادی هندوستان، </a:t>
            </a:r>
            <a:r>
              <a:rPr lang="fa-IR" dirty="0" err="1"/>
              <a:t>ادعانامه</a:t>
            </a:r>
            <a:r>
              <a:rPr lang="fa-IR" dirty="0"/>
              <a:t> علیه تمدن غرب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endParaRPr lang="fa-IR" dirty="0"/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4-	فعالیت های سیاسی و اجتماعی: فعالیت های ایشان به دو دوره 1- دوره پیش از انقلاب 2- دوره پس از انقلاب تقسیم میشود.</a:t>
            </a:r>
          </a:p>
        </p:txBody>
      </p:sp>
    </p:spTree>
    <p:extLst>
      <p:ext uri="{BB962C8B-B14F-4D97-AF65-F5344CB8AC3E}">
        <p14:creationId xmlns:p14="http://schemas.microsoft.com/office/powerpoint/2010/main" val="3973493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44B9-5268-1E4C-2467-5D62689E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82" y="451945"/>
            <a:ext cx="10385259" cy="1905000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شخصیت امام خمینی(ره) از منظر مقام معظم رهبری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5CD61-9CBA-BEE6-93A3-56F903FF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365" y="1933903"/>
            <a:ext cx="5812221" cy="4624552"/>
          </a:xfrm>
        </p:spPr>
        <p:txBody>
          <a:bodyPr>
            <a:normAutofit/>
          </a:bodyPr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1- ضرورت شناخت شخصیت امام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2- شخصیت کامل، جامع </a:t>
            </a:r>
            <a:r>
              <a:rPr lang="fa-IR" dirty="0" err="1"/>
              <a:t>الاطراف</a:t>
            </a:r>
            <a:r>
              <a:rPr lang="fa-IR" dirty="0"/>
              <a:t> و ممتاز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3- باور به خدا، مردم و خود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4-عبودیت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5-فقیه بزرگ، فیلسوف و صاحب نظر در عرفان نظری و مجاهد فی الله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6-بی اعتماد به مستکبرین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1BC815-4730-4719-5510-7A02F8A5A971}"/>
              </a:ext>
            </a:extLst>
          </p:cNvPr>
          <p:cNvSpPr txBox="1">
            <a:spLocks/>
          </p:cNvSpPr>
          <p:nvPr/>
        </p:nvSpPr>
        <p:spPr>
          <a:xfrm>
            <a:off x="0" y="1933903"/>
            <a:ext cx="5812221" cy="4624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Font typeface="Arial"/>
              <a:buNone/>
            </a:pPr>
            <a:r>
              <a:rPr lang="fa-IR" dirty="0"/>
              <a:t>7-معنویت و صفای باطن</a:t>
            </a:r>
          </a:p>
          <a:p>
            <a:pPr marL="0" indent="0" algn="r" rtl="1">
              <a:buFont typeface="Arial"/>
              <a:buNone/>
            </a:pPr>
            <a:r>
              <a:rPr lang="fa-IR" dirty="0"/>
              <a:t>8- چهره توامان و همزمان یک رهبر و زمامدار و یک زاهد و عارف</a:t>
            </a:r>
          </a:p>
          <a:p>
            <a:pPr marL="0" indent="0" algn="r" rtl="1">
              <a:buFont typeface="Arial"/>
              <a:buNone/>
            </a:pPr>
            <a:r>
              <a:rPr lang="fa-IR" dirty="0"/>
              <a:t>9- کشاندن مبارزه به سطح مردمی؛ راز پیروزی امام خمینی(ره)</a:t>
            </a:r>
          </a:p>
          <a:p>
            <a:pPr marL="0" indent="0" algn="r" rtl="1">
              <a:buFont typeface="Arial"/>
              <a:buNone/>
            </a:pPr>
            <a:r>
              <a:rPr lang="fa-IR" dirty="0"/>
              <a:t>10- مردی با اراده و عزم پولادین</a:t>
            </a:r>
          </a:p>
          <a:p>
            <a:pPr marL="0" indent="0" algn="r" rtl="1">
              <a:buFont typeface="Arial"/>
              <a:buNone/>
            </a:pPr>
            <a:r>
              <a:rPr lang="fa-IR" dirty="0"/>
              <a:t>11- گوهر یک دانه و ذخیره الهی</a:t>
            </a:r>
          </a:p>
          <a:p>
            <a:pPr marL="0" indent="0" algn="r" rtl="1">
              <a:buFont typeface="Arial"/>
              <a:buNone/>
            </a:pPr>
            <a:r>
              <a:rPr lang="fa-IR" dirty="0"/>
              <a:t>12- شخصیت معنوی امام</a:t>
            </a:r>
          </a:p>
        </p:txBody>
      </p:sp>
    </p:spTree>
    <p:extLst>
      <p:ext uri="{BB962C8B-B14F-4D97-AF65-F5344CB8AC3E}">
        <p14:creationId xmlns:p14="http://schemas.microsoft.com/office/powerpoint/2010/main" val="355827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D123-0093-0BFD-901A-DA0F826C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53" y="210206"/>
            <a:ext cx="11498317" cy="1618594"/>
          </a:xfrm>
        </p:spPr>
        <p:txBody>
          <a:bodyPr/>
          <a:lstStyle/>
          <a:p>
            <a:pPr algn="ctr" rtl="1"/>
            <a:r>
              <a:rPr lang="fa-IR" b="1" dirty="0">
                <a:effectLst/>
              </a:rPr>
              <a:t>ولایت فقیه و مردم سالاری دینی در اندیشه امام خمینی(ره) و مقام معظم رهبری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ED3FD-DDFF-D4F4-4012-7EDD843B4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1)ولایت فقیه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2)مشروعیت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3)مردم سالاری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endParaRPr lang="fa-IR" dirty="0"/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مفهوم مردم سالاری: 1- مردم سالاری به  عنوان فلسفه و </a:t>
            </a:r>
            <a:r>
              <a:rPr lang="fa-IR" dirty="0" err="1"/>
              <a:t>مبای</a:t>
            </a:r>
            <a:r>
              <a:rPr lang="fa-IR" dirty="0"/>
              <a:t> حکومت  2- مرد سالاری به عنوان شکل حکومت و روش حکومت داری: 1تحقیق یا فعلیت حکومت 2 بقا و تداوم حکومت 3ثبات حکومت و دوری از بحران 4کارآمدی و کارایی حکومت 5مشروعیت و حقانیت یافتن حکومت از منظر ناظر بیرونی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95855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1FBB-982E-37DA-AB1A-94A6D3EA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>
                <a:effectLst/>
              </a:rPr>
              <a:t>دیدگاه امام(ره) و مقام معظم رهبری در مورد مبنای مشروعیت دینی دولت در عصر غیبت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92BC-6EE3-3646-3CCC-0EB7FFFE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دیدگاه اول: نظریه انتصاب عام: نظریه ای که مبنای مشروعیت دینی نظام سیاسی در عصر غیبت است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دیدگاه دوم: نظریه انتخاب: نظریه ای انتخاب اول را در مبنای </a:t>
            </a:r>
            <a:r>
              <a:rPr lang="fa-IR" dirty="0" err="1"/>
              <a:t>مشورعیت</a:t>
            </a:r>
            <a:r>
              <a:rPr lang="fa-IR" dirty="0"/>
              <a:t> دینی نظام سیاسی به رسمیت می شناسد.</a:t>
            </a:r>
          </a:p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fa-IR" dirty="0"/>
              <a:t>دیدگاه سوم: نظریه الهی-مردمی: نظریه ای که مبنای مشروعیت دینی نظام سیاسی را الهی- مردمی می داند. و باید دارای دو سطح و مرتبه از مشروعیت را کسب کنند.</a:t>
            </a:r>
          </a:p>
        </p:txBody>
      </p:sp>
    </p:spTree>
    <p:extLst>
      <p:ext uri="{BB962C8B-B14F-4D97-AF65-F5344CB8AC3E}">
        <p14:creationId xmlns:p14="http://schemas.microsoft.com/office/powerpoint/2010/main" val="107618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4A16-963C-F00C-E98E-0476437C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08993"/>
          </a:xfrm>
        </p:spPr>
        <p:txBody>
          <a:bodyPr/>
          <a:lstStyle/>
          <a:p>
            <a:pPr algn="ctr" rtl="1"/>
            <a:r>
              <a:rPr lang="fa-IR" dirty="0"/>
              <a:t>دو سطح و مرتبه از مشروعیت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6DE6-3A82-D0A6-5FEC-FA93754A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18593"/>
            <a:ext cx="10493539" cy="4708635"/>
          </a:xfrm>
        </p:spPr>
        <p:txBody>
          <a:bodyPr>
            <a:normAutofit/>
          </a:bodyPr>
          <a:lstStyle/>
          <a:p>
            <a:pPr marL="0" indent="0" algn="just" rtl="1">
              <a:buNone/>
            </a:pPr>
            <a:r>
              <a:rPr lang="fa-IR" dirty="0"/>
              <a:t>-مشروعیت در مرتبه احراز صلاحیت  2-مشروعیت در مرتبه اعمال حاکمیت</a:t>
            </a:r>
          </a:p>
          <a:p>
            <a:pPr marL="0" indent="0" algn="just" rtl="1">
              <a:buNone/>
            </a:pPr>
            <a:r>
              <a:rPr lang="fa-IR" dirty="0"/>
              <a:t>1) دیدگاه امام(ره) : الف- شواهدی از آرای امام که منصوب بودن حاکم اسلامی به آنها استناد می شود و </a:t>
            </a:r>
            <a:r>
              <a:rPr lang="fa-IR" dirty="0" err="1"/>
              <a:t>ب</a:t>
            </a:r>
            <a:r>
              <a:rPr lang="fa-IR" dirty="0"/>
              <a:t>-شواهدی از آرای امام که انتخابی بودن حاکم اسلامی بدان ها استناد می شود.</a:t>
            </a:r>
          </a:p>
          <a:p>
            <a:pPr marL="0" indent="0" algn="just" rtl="1">
              <a:buNone/>
            </a:pPr>
            <a:r>
              <a:rPr lang="fa-IR" dirty="0"/>
              <a:t>2) دیدگاه مقام معظم رهبری: با بررسی دیدگاه آیت الله خامنه ای درمی یابیم که ایشان به مردم سالاری دینی به عنوان یک هدف که </a:t>
            </a:r>
            <a:r>
              <a:rPr lang="fa-IR" dirty="0" err="1"/>
              <a:t>مطلوبیت</a:t>
            </a:r>
            <a:r>
              <a:rPr lang="fa-IR" dirty="0"/>
              <a:t> ذاتی داشته و موجب مشروعیت بخشیدن و حقانیت یافتن حکومت می شود و مبنای حکومت تلقی می شود، معتقد هستند. به گونه ای که اگر حکومتی دارای آن نباشد مطلوب و مشروع نخواهد بود. به عبارت دیگر، امام و مقام معظم رهبری، هر دو به مردم سالاری به </a:t>
            </a:r>
            <a:r>
              <a:rPr lang="fa-IR" dirty="0" err="1"/>
              <a:t>عوان</a:t>
            </a:r>
            <a:r>
              <a:rPr lang="fa-IR" dirty="0"/>
              <a:t> مبنا و فلسفه حکومت معتقدند نه به عنوان شکل و روش حکومت داری.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76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58</TotalTime>
  <Words>780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به نام خدا</vt:lpstr>
      <vt:lpstr>PowerPoint Presentation</vt:lpstr>
      <vt:lpstr>اهداف فصل ششم</vt:lpstr>
      <vt:lpstr>شباهت جهت عملی </vt:lpstr>
      <vt:lpstr>شباهت جهت علمی </vt:lpstr>
      <vt:lpstr>نگاهی گذرا به زندگینامه آیت الله خامنه ای </vt:lpstr>
      <vt:lpstr>شخصیت امام خمینی(ره) از منظر مقام معظم رهبری </vt:lpstr>
      <vt:lpstr>ولایت فقیه و مردم سالاری دینی در اندیشه امام خمینی(ره) و مقام معظم رهبری </vt:lpstr>
      <vt:lpstr>دیدگاه امام(ره) و مقام معظم رهبری در مورد مبنای مشروعیت دینی دولت در عصر غیبت </vt:lpstr>
      <vt:lpstr>دو سطح و مرتبه از مشروعیت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Aref Aref</dc:creator>
  <cp:lastModifiedBy>Aref Aref</cp:lastModifiedBy>
  <cp:revision>7</cp:revision>
  <dcterms:created xsi:type="dcterms:W3CDTF">2025-12-26T13:32:41Z</dcterms:created>
  <dcterms:modified xsi:type="dcterms:W3CDTF">2026-01-27T08:23:54Z</dcterms:modified>
</cp:coreProperties>
</file>