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44" d="100"/>
          <a:sy n="144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4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6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0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2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6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1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5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0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9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51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17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07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7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76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72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4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E16C3AC-B759-4848-97E9-10EFF2DD5F2A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2654D61-8D24-1945-85FE-3E602673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006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EF5A-9CAE-7DE0-88E4-A941A6F44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به نام خدا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8481A-5EA4-1178-44A2-37F0DF2A50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3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2F30-D431-A5AB-24F8-7A8996643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672662"/>
            <a:ext cx="9905998" cy="5602013"/>
          </a:xfrm>
        </p:spPr>
        <p:txBody>
          <a:bodyPr>
            <a:normAutofit fontScale="77500" lnSpcReduction="20000"/>
          </a:bodyPr>
          <a:lstStyle/>
          <a:p>
            <a:pPr algn="just" rtl="1">
              <a:lnSpc>
                <a:spcPct val="300000"/>
              </a:lnSpc>
            </a:pPr>
            <a:r>
              <a:rPr lang="fa-IR" dirty="0"/>
              <a:t>مقاله </a:t>
            </a:r>
            <a:r>
              <a:rPr lang="fa-IR" dirty="0" err="1"/>
              <a:t>بیس</a:t>
            </a:r>
            <a:r>
              <a:rPr lang="fa-IR" dirty="0"/>
              <a:t>: </a:t>
            </a:r>
            <a:r>
              <a:rPr lang="en-US" dirty="0"/>
              <a:t>Direct Preference Optimization: Your Language Model is Secretly a Reward Model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نام درس: سمینار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ارائه دهنده: عارف گنجائی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دانشگاه آزاد تهران، واحد غرب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دانشکده فنی و مهندسی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نام استاد: جناب دکتری علی منصور</a:t>
            </a:r>
          </a:p>
          <a:p>
            <a:pPr marL="285750" indent="-285750" algn="just" defTabSz="457200" rtl="1" eaLnBrk="1" latinLnBrk="0" hangingPunct="1">
              <a:lnSpc>
                <a:spcPct val="3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fa-IR" dirty="0"/>
              <a:t>۱۴۰۴ - ۱۴۰۵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4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83CE-AD8D-4D33-25D6-066A5006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/>
              <a:t>مسئله و انگیزه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6F033-3B83-9F1A-7855-1D1E8CC4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/>
          <a:lstStyle/>
          <a:p>
            <a:pPr marL="0" indent="0" algn="r" rtl="1">
              <a:buNone/>
            </a:pPr>
            <a:r>
              <a:rPr lang="fa-IR" dirty="0"/>
              <a:t>مسئله </a:t>
            </a:r>
            <a:r>
              <a:rPr lang="fa-IR" dirty="0" err="1"/>
              <a:t>هم‌ترازی</a:t>
            </a:r>
            <a:r>
              <a:rPr lang="fa-IR" dirty="0"/>
              <a:t> </a:t>
            </a:r>
            <a:r>
              <a:rPr lang="fa-IR" dirty="0" err="1"/>
              <a:t>مدل‌های</a:t>
            </a:r>
            <a:r>
              <a:rPr lang="fa-IR" dirty="0"/>
              <a:t> زبانی با ترجیحات انسانی:</a:t>
            </a:r>
          </a:p>
          <a:p>
            <a:pPr marL="0" indent="0" algn="r" rtl="1">
              <a:buNone/>
            </a:pPr>
            <a:r>
              <a:rPr lang="fa-IR" dirty="0" err="1"/>
              <a:t>مدل‌های</a:t>
            </a:r>
            <a:r>
              <a:rPr lang="fa-IR" dirty="0"/>
              <a:t> زبانی بزرگ رفتارهای مفید و نامطلوب را </a:t>
            </a:r>
            <a:r>
              <a:rPr lang="fa-IR" dirty="0" err="1"/>
              <a:t>به‌طور</a:t>
            </a:r>
            <a:r>
              <a:rPr lang="fa-IR" dirty="0"/>
              <a:t> </a:t>
            </a:r>
            <a:r>
              <a:rPr lang="fa-IR" dirty="0" err="1"/>
              <a:t>هم‌زمان</a:t>
            </a:r>
            <a:r>
              <a:rPr lang="fa-IR" dirty="0"/>
              <a:t> یاد </a:t>
            </a:r>
            <a:r>
              <a:rPr lang="fa-IR" dirty="0" err="1"/>
              <a:t>می‌گیرند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 err="1"/>
              <a:t>هم‌ترازی</a:t>
            </a:r>
            <a:r>
              <a:rPr lang="fa-IR" dirty="0"/>
              <a:t> این مدل‌ها با ترجیحات انسانی برای کاربردهای حساس ضروری است.</a:t>
            </a:r>
          </a:p>
          <a:p>
            <a:pPr marL="0" indent="0" algn="r" rtl="1">
              <a:buNone/>
            </a:pPr>
            <a:r>
              <a:rPr lang="fa-IR" dirty="0"/>
              <a:t>روش </a:t>
            </a:r>
            <a:r>
              <a:rPr lang="en-US" dirty="0"/>
              <a:t>RLHF </a:t>
            </a:r>
            <a:r>
              <a:rPr lang="fa-IR" dirty="0"/>
              <a:t>اگرچه مؤثر است، اما به دلیل مدل پاداش و یادگیری تقویتی، پرهزینه و ناپایدار است.</a:t>
            </a:r>
          </a:p>
          <a:p>
            <a:pPr marL="0" indent="0" algn="r" rtl="1">
              <a:buNone/>
            </a:pPr>
            <a:r>
              <a:rPr lang="fa-IR" dirty="0"/>
              <a:t>این </a:t>
            </a:r>
            <a:r>
              <a:rPr lang="fa-IR" dirty="0" err="1"/>
              <a:t>محدودیت‌ها</a:t>
            </a:r>
            <a:r>
              <a:rPr lang="fa-IR" dirty="0"/>
              <a:t> نیاز به </a:t>
            </a:r>
            <a:r>
              <a:rPr lang="fa-IR" dirty="0" err="1"/>
              <a:t>روش‌های</a:t>
            </a:r>
            <a:r>
              <a:rPr lang="fa-IR" dirty="0"/>
              <a:t> </a:t>
            </a:r>
            <a:r>
              <a:rPr lang="fa-IR" dirty="0" err="1"/>
              <a:t>ساده‌تر</a:t>
            </a:r>
            <a:r>
              <a:rPr lang="fa-IR" dirty="0"/>
              <a:t> و </a:t>
            </a:r>
            <a:r>
              <a:rPr lang="fa-IR" dirty="0" err="1"/>
              <a:t>پایدارتر</a:t>
            </a:r>
            <a:r>
              <a:rPr lang="fa-IR" dirty="0"/>
              <a:t> را ایجاد </a:t>
            </a:r>
            <a:r>
              <a:rPr lang="fa-IR" dirty="0" err="1"/>
              <a:t>کرده‌اند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105911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7921-7AF5-038D-4EC3-3DB0F80F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FBED-5152-65D2-7141-7A720029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RLHF </a:t>
            </a:r>
            <a:r>
              <a:rPr lang="fa-IR" dirty="0"/>
              <a:t> در مقابل </a:t>
            </a:r>
            <a:r>
              <a:rPr lang="en-US" dirty="0"/>
              <a:t>DPO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AD03-A6B8-7593-BDBE-8655425EE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/>
          <a:lstStyle/>
          <a:p>
            <a:pPr marL="0" indent="0" algn="r" rtl="1">
              <a:buNone/>
            </a:pPr>
            <a:r>
              <a:rPr lang="fa-IR" dirty="0"/>
              <a:t>از </a:t>
            </a:r>
            <a:r>
              <a:rPr lang="en-US" dirty="0"/>
              <a:t>RLHF </a:t>
            </a:r>
            <a:r>
              <a:rPr lang="fa-IR" dirty="0"/>
              <a:t>تا </a:t>
            </a:r>
            <a:r>
              <a:rPr lang="en-US" dirty="0"/>
              <a:t>Direct Preference Optimization</a:t>
            </a:r>
            <a:r>
              <a:rPr lang="fa-IR" dirty="0"/>
              <a:t>:</a:t>
            </a:r>
          </a:p>
          <a:p>
            <a:pPr marL="0" indent="0" algn="r" rtl="1">
              <a:buNone/>
            </a:pPr>
            <a:r>
              <a:rPr lang="en-US" dirty="0"/>
              <a:t>RLHF </a:t>
            </a:r>
            <a:r>
              <a:rPr lang="fa-IR" dirty="0"/>
              <a:t>شامل آموزش مدل پاداش و استفاده از </a:t>
            </a:r>
            <a:r>
              <a:rPr lang="fa-IR" dirty="0" err="1"/>
              <a:t>الگوریتم‌های</a:t>
            </a:r>
            <a:r>
              <a:rPr lang="fa-IR" dirty="0"/>
              <a:t> </a:t>
            </a:r>
            <a:r>
              <a:rPr lang="en-US" dirty="0"/>
              <a:t>RL </a:t>
            </a:r>
            <a:r>
              <a:rPr lang="fa-IR" dirty="0"/>
              <a:t>مانند </a:t>
            </a:r>
            <a:r>
              <a:rPr lang="en-US" dirty="0"/>
              <a:t>PPO </a:t>
            </a:r>
            <a:r>
              <a:rPr lang="fa-IR" dirty="0"/>
              <a:t>است.</a:t>
            </a:r>
          </a:p>
          <a:p>
            <a:pPr marL="0" indent="0" algn="r" rtl="1">
              <a:buNone/>
            </a:pPr>
            <a:r>
              <a:rPr lang="en-US" dirty="0"/>
              <a:t>Direct Preference Optimization (DPO) </a:t>
            </a:r>
            <a:r>
              <a:rPr lang="fa-IR" dirty="0"/>
              <a:t>این فرآیند را ساده کرده و مدل پاداش را حذف </a:t>
            </a:r>
            <a:r>
              <a:rPr lang="fa-IR" dirty="0" err="1"/>
              <a:t>می‌کند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در </a:t>
            </a:r>
            <a:r>
              <a:rPr lang="en-US" dirty="0"/>
              <a:t>DPO، </a:t>
            </a:r>
            <a:r>
              <a:rPr lang="fa-IR" dirty="0"/>
              <a:t>ترجیحات انسانی مستقیماً به یک تابع زیان مبتنی بر </a:t>
            </a:r>
            <a:r>
              <a:rPr lang="fa-IR" dirty="0" err="1"/>
              <a:t>بیشینه‌سازی</a:t>
            </a:r>
            <a:r>
              <a:rPr lang="fa-IR" dirty="0"/>
              <a:t> </a:t>
            </a:r>
            <a:r>
              <a:rPr lang="fa-IR" dirty="0" err="1"/>
              <a:t>درست‌نمایی</a:t>
            </a:r>
            <a:r>
              <a:rPr lang="fa-IR" dirty="0"/>
              <a:t> تبدیل </a:t>
            </a:r>
            <a:r>
              <a:rPr lang="fa-IR" dirty="0" err="1"/>
              <a:t>می‌شوند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این روش </a:t>
            </a:r>
            <a:r>
              <a:rPr lang="fa-IR" dirty="0" err="1"/>
              <a:t>ساده‌تر</a:t>
            </a:r>
            <a:r>
              <a:rPr lang="fa-IR" dirty="0"/>
              <a:t>، </a:t>
            </a:r>
            <a:r>
              <a:rPr lang="fa-IR" dirty="0" err="1"/>
              <a:t>سریع‌تر</a:t>
            </a:r>
            <a:r>
              <a:rPr lang="fa-IR" dirty="0"/>
              <a:t> و </a:t>
            </a:r>
            <a:r>
              <a:rPr lang="fa-IR" dirty="0" err="1"/>
              <a:t>پایدارتر</a:t>
            </a:r>
            <a:r>
              <a:rPr lang="fa-IR" dirty="0"/>
              <a:t> از </a:t>
            </a:r>
            <a:r>
              <a:rPr lang="en-US" dirty="0"/>
              <a:t>RLHF </a:t>
            </a:r>
            <a:r>
              <a:rPr lang="fa-IR" dirty="0"/>
              <a:t>است.</a:t>
            </a:r>
          </a:p>
        </p:txBody>
      </p:sp>
    </p:spTree>
    <p:extLst>
      <p:ext uri="{BB962C8B-B14F-4D97-AF65-F5344CB8AC3E}">
        <p14:creationId xmlns:p14="http://schemas.microsoft.com/office/powerpoint/2010/main" val="311564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5C9D-2758-1FD7-82FA-52A95891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2D09-3C87-C348-6F4F-EAE5286D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/>
              <a:t>محدودیت اصلی </a:t>
            </a:r>
            <a:r>
              <a:rPr lang="en-US" b="1" dirty="0"/>
              <a:t>DPO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7469-3CD7-5F4F-6491-BA27565C3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/>
          <a:lstStyle/>
          <a:p>
            <a:pPr marL="0" indent="0" algn="r" rtl="1">
              <a:buNone/>
            </a:pPr>
            <a:r>
              <a:rPr lang="fa-IR" dirty="0"/>
              <a:t>مشکل ضریب </a:t>
            </a:r>
            <a:r>
              <a:rPr lang="el-GR" dirty="0"/>
              <a:t>β </a:t>
            </a:r>
            <a:r>
              <a:rPr lang="fa-IR" dirty="0"/>
              <a:t>ثابت در </a:t>
            </a:r>
            <a:r>
              <a:rPr lang="en-US" dirty="0"/>
              <a:t>DPO</a:t>
            </a:r>
            <a:r>
              <a:rPr lang="fa-IR" dirty="0"/>
              <a:t>:</a:t>
            </a:r>
            <a:endParaRPr lang="en-US" dirty="0"/>
          </a:p>
          <a:p>
            <a:pPr marL="0" indent="0" algn="r" rtl="1">
              <a:buNone/>
            </a:pPr>
            <a:r>
              <a:rPr lang="fa-IR" dirty="0"/>
              <a:t>در </a:t>
            </a:r>
            <a:r>
              <a:rPr lang="en-US" dirty="0"/>
              <a:t>DPO </a:t>
            </a:r>
            <a:r>
              <a:rPr lang="fa-IR" dirty="0"/>
              <a:t>شدت اعمال ترجیحات انسانی توسط ضریب </a:t>
            </a:r>
            <a:r>
              <a:rPr lang="el-GR" dirty="0"/>
              <a:t>β </a:t>
            </a:r>
            <a:r>
              <a:rPr lang="fa-IR" dirty="0"/>
              <a:t>کنترل </a:t>
            </a:r>
            <a:r>
              <a:rPr lang="fa-IR" dirty="0" err="1"/>
              <a:t>می‌شود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el-GR" dirty="0"/>
              <a:t>β </a:t>
            </a:r>
            <a:r>
              <a:rPr lang="fa-IR" dirty="0" err="1"/>
              <a:t>به‌صورت</a:t>
            </a:r>
            <a:r>
              <a:rPr lang="fa-IR" dirty="0"/>
              <a:t> ثابت انتخاب </a:t>
            </a:r>
            <a:r>
              <a:rPr lang="fa-IR" dirty="0" err="1"/>
              <a:t>می‌شود</a:t>
            </a:r>
            <a:r>
              <a:rPr lang="fa-IR" dirty="0"/>
              <a:t> و در کل آموزش تغییر </a:t>
            </a:r>
            <a:r>
              <a:rPr lang="fa-IR" dirty="0" err="1"/>
              <a:t>نمی‌کند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el-GR" dirty="0"/>
              <a:t>β </a:t>
            </a:r>
            <a:r>
              <a:rPr lang="fa-IR" dirty="0"/>
              <a:t>بزرگ → </a:t>
            </a:r>
            <a:r>
              <a:rPr lang="fa-IR" dirty="0" err="1"/>
              <a:t>گرادیان‌های</a:t>
            </a:r>
            <a:r>
              <a:rPr lang="fa-IR" dirty="0"/>
              <a:t> بزرگ، </a:t>
            </a:r>
            <a:r>
              <a:rPr lang="en-US" dirty="0"/>
              <a:t>KL </a:t>
            </a:r>
            <a:r>
              <a:rPr lang="fa-IR" dirty="0"/>
              <a:t>بالا، </a:t>
            </a:r>
            <a:r>
              <a:rPr lang="fa-IR" dirty="0" err="1"/>
              <a:t>ناپایداری</a:t>
            </a:r>
            <a:endParaRPr lang="fa-IR" dirty="0"/>
          </a:p>
          <a:p>
            <a:pPr marL="0" indent="0" algn="r" rtl="1">
              <a:buNone/>
            </a:pPr>
            <a:r>
              <a:rPr lang="el-GR" dirty="0"/>
              <a:t>β </a:t>
            </a:r>
            <a:r>
              <a:rPr lang="fa-IR" dirty="0"/>
              <a:t>کوچک → یادگیری ضعیف ترجیحات انسانی</a:t>
            </a:r>
          </a:p>
          <a:p>
            <a:pPr marL="0" indent="0" algn="r" rtl="1">
              <a:buNone/>
            </a:pPr>
            <a:r>
              <a:rPr lang="fa-IR" dirty="0"/>
              <a:t>یک مقدار ثابت </a:t>
            </a:r>
            <a:r>
              <a:rPr lang="fa-IR" dirty="0" err="1"/>
              <a:t>نمی‌تواند</a:t>
            </a:r>
            <a:r>
              <a:rPr lang="fa-IR" dirty="0"/>
              <a:t> رفتار پویای مدل را در طول آموزش پوشش دهد.</a:t>
            </a:r>
          </a:p>
        </p:txBody>
      </p:sp>
    </p:spTree>
    <p:extLst>
      <p:ext uri="{BB962C8B-B14F-4D97-AF65-F5344CB8AC3E}">
        <p14:creationId xmlns:p14="http://schemas.microsoft.com/office/powerpoint/2010/main" val="2484881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782EC-FCCE-AB7E-4A6F-49813216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0152-EE16-B12E-C482-33621241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/>
              <a:t>شکاف پژوهشی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A20E1-76EF-D472-5F42-7F2DC1811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/>
          <a:lstStyle/>
          <a:p>
            <a:pPr marL="0" indent="0" algn="r" rtl="1">
              <a:buNone/>
            </a:pPr>
            <a:r>
              <a:rPr lang="fa-IR" dirty="0"/>
              <a:t>شکاف موجود در ادبیات:</a:t>
            </a:r>
          </a:p>
          <a:p>
            <a:pPr marL="0" indent="0" algn="r" rtl="1">
              <a:buNone/>
            </a:pPr>
            <a:r>
              <a:rPr lang="fa-IR" dirty="0" err="1"/>
              <a:t>روش‌هایی</a:t>
            </a:r>
            <a:r>
              <a:rPr lang="fa-IR" dirty="0"/>
              <a:t> مانند </a:t>
            </a:r>
            <a:r>
              <a:rPr lang="en-US" dirty="0"/>
              <a:t>Cal-DPO، Safe-DPO </a:t>
            </a:r>
            <a:r>
              <a:rPr lang="fa-IR" dirty="0"/>
              <a:t>و </a:t>
            </a:r>
            <a:r>
              <a:rPr lang="en-US" dirty="0"/>
              <a:t>ORPO </a:t>
            </a:r>
            <a:r>
              <a:rPr lang="fa-IR" dirty="0"/>
              <a:t>مشکلاتی مانند </a:t>
            </a:r>
            <a:r>
              <a:rPr lang="fa-IR" dirty="0" err="1"/>
              <a:t>کالیبراسیون</a:t>
            </a:r>
            <a:r>
              <a:rPr lang="fa-IR" dirty="0"/>
              <a:t> یا ایمنی را هدف قرار </a:t>
            </a:r>
            <a:r>
              <a:rPr lang="fa-IR" dirty="0" err="1"/>
              <a:t>داده‌اند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با این حال، در تمام این </a:t>
            </a:r>
            <a:r>
              <a:rPr lang="fa-IR" dirty="0" err="1"/>
              <a:t>روش‌ها</a:t>
            </a:r>
            <a:r>
              <a:rPr lang="fa-IR" dirty="0"/>
              <a:t> ضریب </a:t>
            </a:r>
            <a:r>
              <a:rPr lang="el-GR" dirty="0"/>
              <a:t>β </a:t>
            </a:r>
            <a:r>
              <a:rPr lang="fa-IR" dirty="0"/>
              <a:t>همچنان ثابت باقی مانده است.</a:t>
            </a:r>
          </a:p>
          <a:p>
            <a:pPr marL="0" indent="0" algn="r" rtl="1">
              <a:buNone/>
            </a:pPr>
            <a:r>
              <a:rPr lang="fa-IR" dirty="0"/>
              <a:t>هیچ رویکردی </a:t>
            </a:r>
            <a:r>
              <a:rPr lang="el-GR" dirty="0"/>
              <a:t>β </a:t>
            </a:r>
            <a:r>
              <a:rPr lang="fa-IR" dirty="0"/>
              <a:t>را </a:t>
            </a:r>
            <a:r>
              <a:rPr lang="fa-IR" dirty="0" err="1"/>
              <a:t>به‌صورت</a:t>
            </a:r>
            <a:r>
              <a:rPr lang="fa-IR" dirty="0"/>
              <a:t> </a:t>
            </a:r>
            <a:r>
              <a:rPr lang="fa-IR" dirty="0" err="1"/>
              <a:t>داده‌محور</a:t>
            </a:r>
            <a:r>
              <a:rPr lang="fa-IR" dirty="0"/>
              <a:t> و </a:t>
            </a:r>
            <a:r>
              <a:rPr lang="fa-IR" dirty="0" err="1"/>
              <a:t>مرحله‌به‌مرحله</a:t>
            </a:r>
            <a:r>
              <a:rPr lang="fa-IR" dirty="0"/>
              <a:t> تنظیم </a:t>
            </a:r>
            <a:r>
              <a:rPr lang="fa-IR" dirty="0" err="1"/>
              <a:t>نمی‌کند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این </a:t>
            </a:r>
            <a:r>
              <a:rPr lang="fa-IR" dirty="0" err="1"/>
              <a:t>خلأ</a:t>
            </a:r>
            <a:r>
              <a:rPr lang="fa-IR" dirty="0"/>
              <a:t> پژوهشی انگیزه اصلی ارائه روش پیشنهادی است.</a:t>
            </a:r>
          </a:p>
        </p:txBody>
      </p:sp>
    </p:spTree>
    <p:extLst>
      <p:ext uri="{BB962C8B-B14F-4D97-AF65-F5344CB8AC3E}">
        <p14:creationId xmlns:p14="http://schemas.microsoft.com/office/powerpoint/2010/main" val="2340745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6A74-1A70-79DB-A5BD-651B5B75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AC73-48AE-9029-2518-54FC73EE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/>
              <a:t>ایده روش پیشنهادی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C3B06-96F5-CD80-C47B-6708CA1F2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/>
          <a:lstStyle/>
          <a:p>
            <a:pPr marL="0" indent="0" algn="r" rtl="1">
              <a:buNone/>
            </a:pPr>
            <a:r>
              <a:rPr lang="en-US" dirty="0"/>
              <a:t>Adaptive-</a:t>
            </a:r>
            <a:r>
              <a:rPr lang="el-GR" dirty="0"/>
              <a:t>β </a:t>
            </a:r>
            <a:r>
              <a:rPr lang="en-US" dirty="0"/>
              <a:t>DPO</a:t>
            </a:r>
            <a:r>
              <a:rPr lang="fa-IR" dirty="0"/>
              <a:t>ایده اصلی:</a:t>
            </a:r>
          </a:p>
          <a:p>
            <a:pPr marL="0" indent="0" algn="r" rtl="1">
              <a:buNone/>
            </a:pPr>
            <a:r>
              <a:rPr lang="fa-IR" dirty="0"/>
              <a:t>ایده اصلی این پژوهش تنظیم پویا و تطبیقی ضریب </a:t>
            </a:r>
            <a:r>
              <a:rPr lang="el-GR" dirty="0"/>
              <a:t>β </a:t>
            </a:r>
            <a:r>
              <a:rPr lang="fa-IR" dirty="0"/>
              <a:t>است.</a:t>
            </a:r>
          </a:p>
          <a:p>
            <a:pPr marL="0" indent="0" algn="r" rtl="1">
              <a:buNone/>
            </a:pPr>
            <a:r>
              <a:rPr lang="fa-IR" dirty="0"/>
              <a:t>شدت اعمال ترجیحات انسانی باید با:</a:t>
            </a:r>
          </a:p>
          <a:p>
            <a:pPr marL="0" indent="0" algn="r" rtl="1">
              <a:buNone/>
            </a:pPr>
            <a:r>
              <a:rPr lang="fa-IR" dirty="0"/>
              <a:t>– میزان </a:t>
            </a:r>
            <a:r>
              <a:rPr lang="fa-IR" dirty="0" err="1"/>
              <a:t>عدم‌قطعیت</a:t>
            </a:r>
            <a:r>
              <a:rPr lang="fa-IR" dirty="0"/>
              <a:t> مدل</a:t>
            </a:r>
          </a:p>
          <a:p>
            <a:pPr marL="0" indent="0" algn="r" rtl="1">
              <a:buNone/>
            </a:pPr>
            <a:r>
              <a:rPr lang="fa-IR" dirty="0"/>
              <a:t>– فاصله مدل از سیاست مرجع</a:t>
            </a:r>
          </a:p>
          <a:p>
            <a:pPr marL="0" indent="0" algn="r" rtl="1">
              <a:buNone/>
            </a:pPr>
            <a:r>
              <a:rPr lang="fa-IR" dirty="0"/>
              <a:t>– مرحله آموزش</a:t>
            </a:r>
          </a:p>
          <a:p>
            <a:pPr marL="0" indent="0" algn="r" rtl="1">
              <a:buNone/>
            </a:pPr>
            <a:r>
              <a:rPr lang="fa-IR" dirty="0"/>
              <a:t>سازگار باشد، نه ثابت.</a:t>
            </a:r>
          </a:p>
        </p:txBody>
      </p:sp>
    </p:spTree>
    <p:extLst>
      <p:ext uri="{BB962C8B-B14F-4D97-AF65-F5344CB8AC3E}">
        <p14:creationId xmlns:p14="http://schemas.microsoft.com/office/powerpoint/2010/main" val="318279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4CC3-13B9-53C2-47D2-4EEC8697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2C52-3AB7-7668-02C4-2D7E6DEF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 err="1"/>
              <a:t>سیگنال‌های</a:t>
            </a:r>
            <a:r>
              <a:rPr lang="fa-IR" dirty="0"/>
              <a:t> کنترلی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30E61-193D-CCEB-7B56-F26FCA16E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dirty="0" err="1"/>
              <a:t>سیگنال‌های</a:t>
            </a:r>
            <a:r>
              <a:rPr lang="fa-IR" dirty="0"/>
              <a:t> مورد استفاده در </a:t>
            </a:r>
            <a:r>
              <a:rPr lang="en-US" dirty="0"/>
              <a:t>Adaptive-</a:t>
            </a:r>
            <a:r>
              <a:rPr lang="el-GR" dirty="0"/>
              <a:t>β </a:t>
            </a:r>
            <a:r>
              <a:rPr lang="en-US" dirty="0"/>
              <a:t>DPO</a:t>
            </a:r>
          </a:p>
          <a:p>
            <a:pPr marL="0" indent="0" algn="r" rtl="1">
              <a:buNone/>
            </a:pPr>
            <a:r>
              <a:rPr lang="fa-IR" dirty="0"/>
              <a:t>۱) اختلاف لگاریتمی احتمال پاسخ </a:t>
            </a:r>
            <a:r>
              <a:rPr lang="fa-IR" dirty="0" err="1"/>
              <a:t>ترجیحی</a:t>
            </a:r>
            <a:r>
              <a:rPr lang="fa-IR" dirty="0"/>
              <a:t> و </a:t>
            </a:r>
            <a:r>
              <a:rPr lang="fa-IR" dirty="0" err="1"/>
              <a:t>ناترجیحی</a:t>
            </a:r>
            <a:endParaRPr lang="fa-IR" dirty="0"/>
          </a:p>
          <a:p>
            <a:pPr marL="0" indent="0" algn="r" rtl="1">
              <a:buNone/>
            </a:pPr>
            <a:r>
              <a:rPr lang="fa-IR" dirty="0"/>
              <a:t>→ شاخص </a:t>
            </a:r>
            <a:r>
              <a:rPr lang="fa-IR" dirty="0" err="1"/>
              <a:t>عدم‌قطعیت</a:t>
            </a:r>
            <a:r>
              <a:rPr lang="fa-IR" dirty="0"/>
              <a:t> مدل نسبت به ترجیح انسانی</a:t>
            </a:r>
          </a:p>
          <a:p>
            <a:pPr marL="0" indent="0" algn="r" rtl="1">
              <a:buNone/>
            </a:pPr>
            <a:r>
              <a:rPr lang="fa-IR" dirty="0"/>
              <a:t>۲) معیار جانشین </a:t>
            </a:r>
            <a:r>
              <a:rPr lang="fa-IR" dirty="0" err="1"/>
              <a:t>واگرایی</a:t>
            </a:r>
            <a:r>
              <a:rPr lang="fa-IR" dirty="0"/>
              <a:t> </a:t>
            </a:r>
            <a:r>
              <a:rPr lang="en-US" dirty="0"/>
              <a:t>KL </a:t>
            </a:r>
            <a:r>
              <a:rPr lang="fa-IR" dirty="0"/>
              <a:t>نسبت به سیاست مرجع</a:t>
            </a:r>
          </a:p>
          <a:p>
            <a:pPr marL="0" indent="0" algn="r" rtl="1">
              <a:buNone/>
            </a:pPr>
            <a:r>
              <a:rPr lang="fa-IR" dirty="0"/>
              <a:t>→ کنترل انحراف و جلوگیری از </a:t>
            </a:r>
            <a:r>
              <a:rPr lang="en-US" dirty="0"/>
              <a:t>drift</a:t>
            </a:r>
          </a:p>
          <a:p>
            <a:pPr marL="0" indent="0" algn="r" rtl="1">
              <a:buNone/>
            </a:pPr>
            <a:r>
              <a:rPr lang="fa-IR" dirty="0"/>
              <a:t>این دو سیگنال مبنای تنظیم </a:t>
            </a:r>
            <a:r>
              <a:rPr lang="el-GR" dirty="0"/>
              <a:t>β </a:t>
            </a:r>
            <a:r>
              <a:rPr lang="fa-IR" dirty="0"/>
              <a:t>هستند.</a:t>
            </a:r>
          </a:p>
          <a:p>
            <a:pPr marL="0" indent="0" algn="r" rtl="1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94020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0859-4D44-6A44-54AC-54B6B191A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B555-2B11-79F8-600F-63FCF53A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/>
              <a:t>قاعده تنظیم </a:t>
            </a:r>
            <a:r>
              <a:rPr lang="el-GR" dirty="0"/>
              <a:t>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1A186-6929-9029-E8D1-CBA066E0E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dirty="0"/>
              <a:t>مکانیزم تنظیم تطبیقی ضریب </a:t>
            </a:r>
            <a:r>
              <a:rPr lang="el-GR" dirty="0"/>
              <a:t>β</a:t>
            </a:r>
          </a:p>
          <a:p>
            <a:pPr marL="0" indent="0" algn="r" rtl="1">
              <a:buNone/>
            </a:pPr>
            <a:r>
              <a:rPr lang="fa-IR" dirty="0"/>
              <a:t>اگر مدل تمایز کافی میان </a:t>
            </a:r>
            <a:r>
              <a:rPr lang="fa-IR" dirty="0" err="1"/>
              <a:t>پاسخ‌ها</a:t>
            </a:r>
            <a:r>
              <a:rPr lang="fa-IR" dirty="0"/>
              <a:t> ایجاد نکرده باشد → </a:t>
            </a:r>
            <a:r>
              <a:rPr lang="el-GR" dirty="0"/>
              <a:t>β </a:t>
            </a:r>
            <a:r>
              <a:rPr lang="fa-IR" dirty="0"/>
              <a:t>افزایش </a:t>
            </a:r>
            <a:r>
              <a:rPr lang="fa-IR" dirty="0" err="1"/>
              <a:t>می‌یابد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اگر </a:t>
            </a:r>
            <a:r>
              <a:rPr lang="fa-IR" dirty="0" err="1"/>
              <a:t>واگرایی</a:t>
            </a:r>
            <a:r>
              <a:rPr lang="fa-IR" dirty="0"/>
              <a:t> </a:t>
            </a:r>
            <a:r>
              <a:rPr lang="en-US" dirty="0"/>
              <a:t>KL </a:t>
            </a:r>
            <a:r>
              <a:rPr lang="fa-IR" dirty="0" err="1"/>
              <a:t>بیش‌ازحد</a:t>
            </a:r>
            <a:r>
              <a:rPr lang="fa-IR" dirty="0"/>
              <a:t> افزایش یابد → </a:t>
            </a:r>
            <a:r>
              <a:rPr lang="el-GR" dirty="0"/>
              <a:t>β </a:t>
            </a:r>
            <a:r>
              <a:rPr lang="fa-IR" dirty="0"/>
              <a:t>کاهش داده </a:t>
            </a:r>
            <a:r>
              <a:rPr lang="fa-IR" dirty="0" err="1"/>
              <a:t>می‌شود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در مراحل ابتدایی آموزش، </a:t>
            </a:r>
            <a:r>
              <a:rPr lang="el-GR" dirty="0"/>
              <a:t>β </a:t>
            </a:r>
            <a:r>
              <a:rPr lang="fa-IR" dirty="0"/>
              <a:t>از مقدار ملایم شروع شده و </a:t>
            </a:r>
            <a:r>
              <a:rPr lang="fa-IR" dirty="0" err="1"/>
              <a:t>به‌تدریج</a:t>
            </a:r>
            <a:r>
              <a:rPr lang="fa-IR" dirty="0"/>
              <a:t> افزایش </a:t>
            </a:r>
            <a:r>
              <a:rPr lang="fa-IR" dirty="0" err="1"/>
              <a:t>می‌یابد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این قاعده باعث تعادل میان یادگیری مؤثر و پایداری آموزش </a:t>
            </a:r>
            <a:r>
              <a:rPr lang="fa-IR" dirty="0" err="1"/>
              <a:t>می‌شو</a:t>
            </a:r>
            <a:endParaRPr lang="fa-IR" dirty="0"/>
          </a:p>
          <a:p>
            <a:pPr marL="0" indent="0" algn="r" rtl="1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95245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B7D2-DC06-5E18-335D-48314CEF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F915-F864-8CEE-97F3-3B1B143D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/>
              <a:t>نتایج تجربی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CF36-1F97-9FFE-A7A0-1666D2D98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dirty="0"/>
              <a:t>نتایج </a:t>
            </a:r>
            <a:r>
              <a:rPr lang="fa-IR" dirty="0" err="1"/>
              <a:t>آزمایش‌ها</a:t>
            </a:r>
            <a:endParaRPr lang="fa-IR" dirty="0"/>
          </a:p>
          <a:p>
            <a:pPr marL="0" indent="0" algn="r" rtl="1">
              <a:buNone/>
            </a:pPr>
            <a:r>
              <a:rPr lang="fa-IR" dirty="0" err="1"/>
              <a:t>آزمایش‌ها</a:t>
            </a:r>
            <a:r>
              <a:rPr lang="fa-IR" dirty="0"/>
              <a:t> روی </a:t>
            </a:r>
            <a:r>
              <a:rPr lang="en-US" dirty="0"/>
              <a:t>GPT-2 </a:t>
            </a:r>
            <a:r>
              <a:rPr lang="fa-IR" dirty="0"/>
              <a:t>و داده </a:t>
            </a:r>
            <a:r>
              <a:rPr lang="en-US" dirty="0"/>
              <a:t>Helpful–Harmless </a:t>
            </a:r>
            <a:r>
              <a:rPr lang="fa-IR" dirty="0"/>
              <a:t>انجام شده‌اند.</a:t>
            </a:r>
          </a:p>
          <a:p>
            <a:pPr marL="0" indent="0" algn="r" rtl="1">
              <a:buNone/>
            </a:pPr>
            <a:r>
              <a:rPr lang="fa-IR" dirty="0"/>
              <a:t>با افزایش </a:t>
            </a:r>
            <a:r>
              <a:rPr lang="el-GR" dirty="0"/>
              <a:t>β </a:t>
            </a:r>
            <a:r>
              <a:rPr lang="fa-IR" dirty="0"/>
              <a:t>ثابت، مقدار </a:t>
            </a:r>
            <a:r>
              <a:rPr lang="en-US" dirty="0"/>
              <a:t>Loss </a:t>
            </a:r>
            <a:r>
              <a:rPr lang="fa-IR" dirty="0"/>
              <a:t>و </a:t>
            </a:r>
            <a:r>
              <a:rPr lang="fa-IR" dirty="0" err="1"/>
              <a:t>نُرم</a:t>
            </a:r>
            <a:r>
              <a:rPr lang="fa-IR" dirty="0"/>
              <a:t> </a:t>
            </a:r>
            <a:r>
              <a:rPr lang="fa-IR" dirty="0" err="1"/>
              <a:t>گرادیان‌ها</a:t>
            </a:r>
            <a:r>
              <a:rPr lang="fa-IR" dirty="0"/>
              <a:t> </a:t>
            </a:r>
            <a:r>
              <a:rPr lang="fa-IR" dirty="0" err="1"/>
              <a:t>به‌شدت</a:t>
            </a:r>
            <a:r>
              <a:rPr lang="fa-IR" dirty="0"/>
              <a:t> افزایش </a:t>
            </a:r>
            <a:r>
              <a:rPr lang="fa-IR" dirty="0" err="1"/>
              <a:t>می‌یابد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en-US" dirty="0"/>
              <a:t>Adaptive-</a:t>
            </a:r>
            <a:r>
              <a:rPr lang="el-GR" dirty="0"/>
              <a:t>β </a:t>
            </a:r>
            <a:r>
              <a:rPr lang="en-US" dirty="0"/>
              <a:t>DPO </a:t>
            </a:r>
            <a:r>
              <a:rPr lang="fa-IR" dirty="0"/>
              <a:t>بدون نوسانات شدید، آموزش </a:t>
            </a:r>
            <a:r>
              <a:rPr lang="fa-IR" dirty="0" err="1"/>
              <a:t>پایدارتر</a:t>
            </a:r>
            <a:r>
              <a:rPr lang="fa-IR" dirty="0"/>
              <a:t> ارائه </a:t>
            </a:r>
            <a:r>
              <a:rPr lang="fa-IR" dirty="0" err="1"/>
              <a:t>می‌دهد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وابستگی </a:t>
            </a:r>
            <a:r>
              <a:rPr lang="en-US" dirty="0"/>
              <a:t>DPO </a:t>
            </a:r>
            <a:r>
              <a:rPr lang="fa-IR" dirty="0"/>
              <a:t>به تنظیم دستی </a:t>
            </a:r>
            <a:r>
              <a:rPr lang="el-GR" dirty="0"/>
              <a:t>β </a:t>
            </a:r>
            <a:r>
              <a:rPr lang="fa-IR" dirty="0"/>
              <a:t>کاهش </a:t>
            </a:r>
            <a:r>
              <a:rPr lang="fa-IR" dirty="0" err="1"/>
              <a:t>می‌یابد</a:t>
            </a:r>
            <a:r>
              <a:rPr lang="fa-I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742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9CC3-9584-97D1-3F3D-7EC49403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5C0E-83E6-4D79-8DF7-1826AEA1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b="1" dirty="0" err="1"/>
              <a:t>جمع‌بندی</a:t>
            </a:r>
            <a:r>
              <a:rPr lang="fa-IR" b="1"/>
              <a:t> و مسیر آینده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A2E30-5661-DF5B-ACDE-3E5E0273F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23090"/>
            <a:ext cx="9905998" cy="4351281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dirty="0" err="1"/>
              <a:t>جمع‌بندی</a:t>
            </a:r>
            <a:r>
              <a:rPr lang="fa-IR" dirty="0"/>
              <a:t> و مسیرهای آینده</a:t>
            </a:r>
          </a:p>
          <a:p>
            <a:pPr marL="0" indent="0" algn="r" rtl="1">
              <a:buNone/>
            </a:pPr>
            <a:r>
              <a:rPr lang="fa-IR" dirty="0"/>
              <a:t>در این پژوهش یک مکانیزم تطبیقی برای تنظیم </a:t>
            </a:r>
            <a:r>
              <a:rPr lang="el-GR" dirty="0"/>
              <a:t>β </a:t>
            </a:r>
            <a:r>
              <a:rPr lang="fa-IR" dirty="0"/>
              <a:t>در </a:t>
            </a:r>
            <a:r>
              <a:rPr lang="en-US" dirty="0"/>
              <a:t>DPO </a:t>
            </a:r>
            <a:r>
              <a:rPr lang="fa-IR" dirty="0"/>
              <a:t>ارائه شد.</a:t>
            </a:r>
          </a:p>
          <a:p>
            <a:pPr marL="0" indent="0" algn="r" rtl="1">
              <a:buNone/>
            </a:pPr>
            <a:r>
              <a:rPr lang="fa-IR" dirty="0"/>
              <a:t>روش پیشنهادی بدون تغییر تابع زیان و بدون مدل پاداش، پایداری آموزش را بهبود </a:t>
            </a:r>
            <a:r>
              <a:rPr lang="fa-IR" dirty="0" err="1"/>
              <a:t>می‌دهد</a:t>
            </a:r>
            <a:r>
              <a:rPr lang="fa-IR" dirty="0"/>
              <a:t>.</a:t>
            </a:r>
          </a:p>
          <a:p>
            <a:pPr marL="0" indent="0" algn="r" rtl="1">
              <a:buNone/>
            </a:pPr>
            <a:r>
              <a:rPr lang="fa-IR" dirty="0"/>
              <a:t>مسیرهای آینده شامل:</a:t>
            </a:r>
          </a:p>
          <a:p>
            <a:pPr marL="0" indent="0" algn="r" rtl="1">
              <a:buNone/>
            </a:pPr>
            <a:r>
              <a:rPr lang="fa-IR" dirty="0"/>
              <a:t>– آزمایش در مقیاس </a:t>
            </a:r>
            <a:r>
              <a:rPr lang="fa-IR" dirty="0" err="1"/>
              <a:t>بزرگ‌تر</a:t>
            </a:r>
            <a:endParaRPr lang="fa-IR" dirty="0"/>
          </a:p>
          <a:p>
            <a:pPr marL="0" indent="0" algn="r" rtl="1">
              <a:buNone/>
            </a:pPr>
            <a:r>
              <a:rPr lang="fa-IR" dirty="0"/>
              <a:t>– </a:t>
            </a:r>
            <a:r>
              <a:rPr lang="fa-IR" dirty="0" err="1"/>
              <a:t>مدل‌های</a:t>
            </a:r>
            <a:r>
              <a:rPr lang="fa-IR" dirty="0"/>
              <a:t> زبانی </a:t>
            </a:r>
            <a:r>
              <a:rPr lang="fa-IR" dirty="0" err="1"/>
              <a:t>پیشرفته‌تر</a:t>
            </a:r>
            <a:r>
              <a:rPr lang="fa-IR" dirty="0"/>
              <a:t> و </a:t>
            </a:r>
            <a:r>
              <a:rPr lang="fa-IR" dirty="0" err="1"/>
              <a:t>کدنویس</a:t>
            </a:r>
            <a:endParaRPr lang="fa-IR" dirty="0"/>
          </a:p>
          <a:p>
            <a:pPr marL="0" indent="0" algn="r" rtl="1">
              <a:buNone/>
            </a:pPr>
            <a:r>
              <a:rPr lang="fa-IR" dirty="0"/>
              <a:t>– معیارهای کیفی </a:t>
            </a:r>
            <a:r>
              <a:rPr lang="fa-IR" dirty="0" err="1"/>
              <a:t>دقیق‌تر</a:t>
            </a:r>
            <a:r>
              <a:rPr lang="fa-IR" dirty="0"/>
              <a:t> مانند </a:t>
            </a:r>
            <a:r>
              <a:rPr lang="en-US" dirty="0"/>
              <a:t>win-rate </a:t>
            </a:r>
            <a:r>
              <a:rPr lang="fa-IR" dirty="0"/>
              <a:t>انسانی</a:t>
            </a:r>
          </a:p>
          <a:p>
            <a:pPr marL="0" indent="0" algn="r" rtl="1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4250769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41</TotalTime>
  <Words>582</Words>
  <Application>Microsoft Macintosh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به نام خدا</vt:lpstr>
      <vt:lpstr>PowerPoint Presentation</vt:lpstr>
      <vt:lpstr>مسئله و انگیزه</vt:lpstr>
      <vt:lpstr>RLHF  در مقابل DPO</vt:lpstr>
      <vt:lpstr>محدودیت اصلی DPO</vt:lpstr>
      <vt:lpstr>شکاف پژوهشی</vt:lpstr>
      <vt:lpstr>ایده روش پیشنهادی</vt:lpstr>
      <vt:lpstr>سیگنال‌های کنترلی</vt:lpstr>
      <vt:lpstr>قاعده تنظیم β</vt:lpstr>
      <vt:lpstr>نتایج تجربی</vt:lpstr>
      <vt:lpstr>جمع‌بندی و مسیر آینده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Aref Aref</dc:creator>
  <cp:lastModifiedBy>Aref Aref</cp:lastModifiedBy>
  <cp:revision>2</cp:revision>
  <dcterms:created xsi:type="dcterms:W3CDTF">2025-12-26T13:32:41Z</dcterms:created>
  <dcterms:modified xsi:type="dcterms:W3CDTF">2025-12-29T11:55:53Z</dcterms:modified>
</cp:coreProperties>
</file>